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4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4AF37"/>
                </a:solidFill>
                <a:latin typeface="JetBrains Mono"/>
              </a:rPr>
              <a:t>ESTABLISHED 2026 · SILICON VALLEY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lash Display"/>
              </a:rPr>
              <a:t>We Don't Just Market Brands. We Build </a:t>
            </a:r>
            <a:r>
              <a:rPr sz="6400" b="1" i="1">
                <a:solidFill>
                  <a:srgbClr val="FFFFFF"/>
                </a:solidFill>
                <a:latin typeface="Playfair Display"/>
              </a:rPr>
              <a:t>Digital Empires</a:t>
            </a:r>
            <a:r>
              <a:rPr sz="6400" b="1" i="0">
                <a:solidFill>
                  <a:srgbClr val="FFFFFF"/>
                </a:solidFill>
                <a:latin typeface="Clash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B8B8"/>
                </a:solidFill>
                <a:latin typeface="Inter"/>
              </a:rPr>
              <a:t>AI Automation, Paid Advertising, SEO, Web Development, Branding, and Scalable Digital Systems engineered for modern businesses seeking elite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4AF37"/>
                </a:solidFill>
                <a:latin typeface="JetBrains Mono"/>
              </a:rPr>
              <a:t>I. Trust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lash Display"/>
              </a:rPr>
              <a:t>Built for ambitious </a:t>
            </a:r>
            <a:r>
              <a:rPr sz="4800" b="1" i="1">
                <a:solidFill>
                  <a:srgbClr val="FFFFFF"/>
                </a:solidFill>
                <a:latin typeface="Playfair Display"/>
              </a:rPr>
              <a:t>brands</a:t>
            </a:r>
            <a:r>
              <a:rPr sz="4800" b="1" i="0">
                <a:solidFill>
                  <a:srgbClr val="FFFFFF"/>
                </a:solidFill>
                <a:latin typeface="Clash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48256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B8B8B8"/>
                </a:solidFill>
                <a:latin typeface="Inter"/>
              </a:rPr>
              <a:t>Luxury execution meets scalable strategy. We create systems designed for long-term growth, moving beyond tactical marketing into architectural brand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4AF37"/>
                </a:solidFill>
                <a:latin typeface="JetBrains Mono"/>
              </a:rPr>
              <a:t>II.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lash Display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Clash Display"/>
              </a:rPr>
              <a:t>Paid Advertising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High-performance campaigns across elite networks, optimized for immediate ROI and brand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Clash Display"/>
              </a:rPr>
              <a:t>AI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Futuristic workflows and intelligent assistants that remove bottlenecks and scale operations autonomously.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6836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Clash Display"/>
              </a:rPr>
              <a:t>Elite Branding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6836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Visual identities and typography systems crafted for luxury positioning and market dominance.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4AF37"/>
                </a:solidFill>
                <a:latin typeface="JetBrains Mono"/>
              </a:rPr>
              <a:t>III. The Growth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lash Display"/>
              </a:rPr>
              <a:t>Modern systems for </a:t>
            </a:r>
            <a:r>
              <a:rPr sz="4000" b="1" i="1">
                <a:solidFill>
                  <a:srgbClr val="FFFFFF"/>
                </a:solidFill>
                <a:latin typeface="Playfair Display"/>
              </a:rPr>
              <a:t>modern businesses</a:t>
            </a:r>
            <a:r>
              <a:rPr sz="4000" b="1" i="0">
                <a:solidFill>
                  <a:srgbClr val="FFFFFF"/>
                </a:solidFill>
                <a:latin typeface="Clash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4825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Inter"/>
              </a:rPr>
              <a:t>01. Custom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6829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8B8B8"/>
                </a:solidFill>
                <a:latin typeface="Inter"/>
              </a:rPr>
              <a:t>No templates, only bespoke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7977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Inter"/>
              </a:rPr>
              <a:t>02. Scalable Processes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98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8B8B8"/>
                </a:solidFill>
                <a:latin typeface="Inter"/>
              </a:rPr>
              <a:t>Built to handle 10x volume without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1129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4AF37"/>
                </a:solidFill>
                <a:latin typeface="Inter"/>
              </a:rPr>
              <a:t>03. AI-Driven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8B8B8"/>
                </a:solidFill>
                <a:latin typeface="Inter"/>
              </a:rPr>
              <a:t>Real-time data processing and automation.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4AF37"/>
                </a:solidFill>
                <a:latin typeface="JetBrains Mono"/>
              </a:rPr>
              <a:t>IV.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lash Display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D4AF37"/>
                </a:solidFill>
                <a:latin typeface="Clash Display"/>
              </a:rPr>
              <a:t>01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In-depth audit of your current systems and market positioning to identify high-leverage growth levers.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D4AF37"/>
                </a:solidFill>
                <a:latin typeface="Clash Display"/>
              </a:rPr>
              <a:t>02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Engineering the core infrastructure, from AI integrations to high-conversion digital surfaces.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6836" y="1682496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D4AF37"/>
                </a:solidFill>
                <a:latin typeface="Clash Display"/>
              </a:rPr>
              <a:t>03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6836" y="2139696"/>
            <a:ext cx="35762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B8B8"/>
                </a:solidFill>
                <a:latin typeface="Inter"/>
              </a:rPr>
              <a:t>Activating the engines and optimizing for exponential growth while maintaining luxury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4AF37"/>
                </a:solidFill>
                <a:latin typeface="JetBrains Mono"/>
              </a:rPr>
              <a:t>V. Concept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5364327" cy="1828800"/>
          </a:xfrm>
          <a:prstGeom prst="rect">
            <a:avLst/>
          </a:prstGeom>
          <a:solidFill>
            <a:srgbClr val="B8B8B8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852928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lash Display"/>
              </a:rPr>
              <a:t>Elite Dashboard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841248"/>
            <a:ext cx="5364327" cy="1828800"/>
          </a:xfrm>
          <a:prstGeom prst="rect">
            <a:avLst/>
          </a:prstGeom>
          <a:solidFill>
            <a:srgbClr val="B8B8B8"/>
          </a:solidFill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78727" y="2852928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lash Display"/>
              </a:rPr>
              <a:t>Elite Management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202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lash Display"/>
              </a:rPr>
              <a:t>Your Brand Deserves </a:t>
            </a:r>
            <a:r>
              <a:rPr sz="5400" b="1" i="1">
                <a:solidFill>
                  <a:srgbClr val="FFFFFF"/>
                </a:solidFill>
                <a:latin typeface="Playfair Display"/>
              </a:rPr>
              <a:t>More Than Average</a:t>
            </a:r>
            <a:r>
              <a:rPr sz="5400" b="1" i="0">
                <a:solidFill>
                  <a:srgbClr val="FFFFFF"/>
                </a:solidFill>
                <a:latin typeface="Clash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49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B8B8"/>
                </a:solidFill>
                <a:latin typeface="Inter"/>
              </a:rPr>
              <a:t>Take the first step toward building your digital empire. Schedule a private strategy session with our advisors.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B8B8"/>
                </a:solidFill>
                <a:latin typeface="JetBrains Mono"/>
              </a:rPr>
              <a:t>GROWTHPILOT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